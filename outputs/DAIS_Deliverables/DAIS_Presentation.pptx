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DAIS Strategy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Dynamic Asymmetric Inventory-Aware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JEPI —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total_return: 0.11592221287019822</a:t>
            </a:r>
          </a:p>
          <a:p>
            <a:r>
              <a:t>annualized_return: 0.058768795712487165</a:t>
            </a:r>
          </a:p>
          <a:p>
            <a:r>
              <a:t>annualized_vol: 0.09561981463218865</a:t>
            </a:r>
          </a:p>
          <a:p>
            <a:r>
              <a:t>sharpe: 0.6146089692659134</a:t>
            </a:r>
          </a:p>
          <a:p>
            <a:r>
              <a:t>max_drawdown: -0.10197833958905456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JEPI Chart</a:t>
            </a:r>
          </a:p>
        </p:txBody>
      </p:sp>
      <p:pic>
        <p:nvPicPr>
          <p:cNvPr id="3" name="Picture 2" descr="JEPI_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701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JEPI Chart</a:t>
            </a:r>
          </a:p>
        </p:txBody>
      </p:sp>
      <p:pic>
        <p:nvPicPr>
          <p:cNvPr id="3" name="Picture 2" descr="JEPI_price_ma_t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874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DGRO —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total_return: 0.25118601157138176</a:t>
            </a:r>
          </a:p>
          <a:p>
            <a:r>
              <a:t>annualized_return: 0.11425085673629143</a:t>
            </a:r>
          </a:p>
          <a:p>
            <a:r>
              <a:t>annualized_vol: 0.09118519871438767</a:t>
            </a:r>
          </a:p>
          <a:p>
            <a:r>
              <a:t>sharpe: 1.2529539700204035</a:t>
            </a:r>
          </a:p>
          <a:p>
            <a:r>
              <a:t>max_drawdown: -0.10186384671893234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DGRO Chart</a:t>
            </a:r>
          </a:p>
        </p:txBody>
      </p:sp>
      <p:pic>
        <p:nvPicPr>
          <p:cNvPr id="3" name="Picture 2" descr="DGRO_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8406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DGRO Chart</a:t>
            </a:r>
          </a:p>
        </p:txBody>
      </p:sp>
      <p:pic>
        <p:nvPicPr>
          <p:cNvPr id="3" name="Picture 2" descr="DGRO_price_ma_t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874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SCHD —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total_return: 0.23103868850110687</a:t>
            </a:r>
          </a:p>
          <a:p>
            <a:r>
              <a:t>annualized_return: 0.10429275121176662</a:t>
            </a:r>
          </a:p>
          <a:p>
            <a:r>
              <a:t>annualized_vol: 0.09695044742282038</a:t>
            </a:r>
          </a:p>
          <a:p>
            <a:r>
              <a:t>sharpe: 1.0757325415624435</a:t>
            </a:r>
          </a:p>
          <a:p>
            <a:r>
              <a:t>max_drawdown: -0.0977225344906888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SCHD Chart</a:t>
            </a:r>
          </a:p>
        </p:txBody>
      </p:sp>
      <p:pic>
        <p:nvPicPr>
          <p:cNvPr id="3" name="Picture 2" descr="SCHD_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8406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SCHD Chart</a:t>
            </a:r>
          </a:p>
        </p:txBody>
      </p:sp>
      <p:pic>
        <p:nvPicPr>
          <p:cNvPr id="3" name="Picture 2" descr="SCHD_price_ma_t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8740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VYM —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total_return: 0.2414603817226677</a:t>
            </a:r>
          </a:p>
          <a:p>
            <a:r>
              <a:t>annualized_return: 0.118422557093397</a:t>
            </a:r>
          </a:p>
          <a:p>
            <a:r>
              <a:t>annualized_vol: 0.09906063907830125</a:t>
            </a:r>
          </a:p>
          <a:p>
            <a:r>
              <a:t>sharpe: 1.195455210013246</a:t>
            </a:r>
          </a:p>
          <a:p>
            <a:r>
              <a:t>max_drawdown: -0.08484761217583414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VYM Chart</a:t>
            </a:r>
          </a:p>
        </p:txBody>
      </p:sp>
      <p:pic>
        <p:nvPicPr>
          <p:cNvPr id="3" name="Picture 2" descr="VYM_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701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VYM Chart</a:t>
            </a:r>
          </a:p>
        </p:txBody>
      </p:sp>
      <p:pic>
        <p:nvPicPr>
          <p:cNvPr id="3" name="Picture 2" descr="VYM_price_ma_t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8393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KBWY —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total_return: 0.11291398609080461</a:t>
            </a:r>
          </a:p>
          <a:p>
            <a:r>
              <a:t>annualized_return: 0.0474951465579021</a:t>
            </a:r>
          </a:p>
          <a:p>
            <a:r>
              <a:t>annualized_vol: 0.10636351420498842</a:t>
            </a:r>
          </a:p>
          <a:p>
            <a:r>
              <a:t>sharpe: 0.4465360787757292</a:t>
            </a:r>
          </a:p>
          <a:p>
            <a:r>
              <a:t>max_drawdown: -0.14530199438886338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KBWY Chart</a:t>
            </a:r>
          </a:p>
        </p:txBody>
      </p:sp>
      <p:pic>
        <p:nvPicPr>
          <p:cNvPr id="3" name="Picture 2" descr="KBWY_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8541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KBWY Chart</a:t>
            </a:r>
          </a:p>
        </p:txBody>
      </p:sp>
      <p:pic>
        <p:nvPicPr>
          <p:cNvPr id="3" name="Picture 2" descr="KBWY_price_ma_t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87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