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DAIS Trading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Auto-generated performance and strategy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JEPI — 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Return: 0.0061</a:t>
            </a:r>
          </a:p>
          <a:p>
            <a:r>
              <a:t>Annualized Return: 0.0023</a:t>
            </a:r>
          </a:p>
          <a:p>
            <a:r>
              <a:t>Annualized Volatility: 0.0038</a:t>
            </a:r>
          </a:p>
          <a:p>
            <a:r>
              <a:t>Sharpe Ratio: 0.6072</a:t>
            </a:r>
          </a:p>
          <a:p>
            <a:r>
              <a:t>Max Drawdown: -0.0038</a:t>
            </a:r>
          </a:p>
          <a:p>
            <a:r>
              <a:t>Blended True Beta: 0.4973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JEPI — Sell Discipline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Sell Attempts: 0</a:t>
            </a:r>
          </a:p>
          <a:p>
            <a:r>
              <a:t>Blocked by MA20: 0</a:t>
            </a:r>
          </a:p>
          <a:p>
            <a:r>
              <a:t>Blocked by Avg Cost: 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JEPI — Trade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Buys (shares): 0</a:t>
            </a:r>
          </a:p>
          <a:p>
            <a:r>
              <a:t>Total Sells (shares): 0</a:t>
            </a:r>
          </a:p>
          <a:p>
            <a:r>
              <a:t>Largest Buy (shares): 0</a:t>
            </a:r>
          </a:p>
          <a:p>
            <a:r>
              <a:t>Largest Sell (shares): 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JEPI — Charts</a:t>
            </a:r>
          </a:p>
        </p:txBody>
      </p:sp>
      <p:pic>
        <p:nvPicPr>
          <p:cNvPr id="3" name="Picture 2" descr="JEPI_price_ma_tra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267013" cy="2286000"/>
          </a:xfrm>
          <a:prstGeom prst="rect">
            <a:avLst/>
          </a:prstGeom>
        </p:spPr>
      </p:pic>
      <p:pic>
        <p:nvPicPr>
          <p:cNvPr id="4" name="Picture 3" descr="JEPI_equity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371600"/>
            <a:ext cx="4359349" cy="2286000"/>
          </a:xfrm>
          <a:prstGeom prst="rect">
            <a:avLst/>
          </a:prstGeom>
        </p:spPr>
      </p:pic>
      <p:pic>
        <p:nvPicPr>
          <p:cNvPr id="5" name="Picture 4" descr="JEPI_inven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371600"/>
            <a:ext cx="5972468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VYM — 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Return: 0.0000</a:t>
            </a:r>
          </a:p>
          <a:p>
            <a:r>
              <a:t>Annualized Return: 0.0000</a:t>
            </a:r>
          </a:p>
          <a:p>
            <a:r>
              <a:t>Annualized Volatility: 0.0000</a:t>
            </a:r>
          </a:p>
          <a:p>
            <a:r>
              <a:t>Sharpe Ratio: nan</a:t>
            </a:r>
          </a:p>
          <a:p>
            <a:r>
              <a:t>Max Drawdown: 0.0000</a:t>
            </a:r>
          </a:p>
          <a:p>
            <a:r>
              <a:t>Blended True Beta: 0.6826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VYM — Sell Discipline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Sell Attempts: 0</a:t>
            </a:r>
          </a:p>
          <a:p>
            <a:r>
              <a:t>Blocked by MA20: 0</a:t>
            </a:r>
          </a:p>
          <a:p>
            <a:r>
              <a:t>Blocked by Avg Cost: 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VYM — Trade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Buys (shares): 0</a:t>
            </a:r>
          </a:p>
          <a:p>
            <a:r>
              <a:t>Total Sells (shares): 0</a:t>
            </a:r>
          </a:p>
          <a:p>
            <a:r>
              <a:t>Largest Buy (shares): 0</a:t>
            </a:r>
          </a:p>
          <a:p>
            <a:r>
              <a:t>Largest Sell (shares): 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VYM — Charts</a:t>
            </a:r>
          </a:p>
        </p:txBody>
      </p:sp>
      <p:pic>
        <p:nvPicPr>
          <p:cNvPr id="3" name="Picture 2" descr="VYM_price_ma_tra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303388" cy="2286000"/>
          </a:xfrm>
          <a:prstGeom prst="rect">
            <a:avLst/>
          </a:prstGeom>
        </p:spPr>
      </p:pic>
      <p:pic>
        <p:nvPicPr>
          <p:cNvPr id="4" name="Picture 3" descr="VYM_equity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371600"/>
            <a:ext cx="4303388" cy="2286000"/>
          </a:xfrm>
          <a:prstGeom prst="rect">
            <a:avLst/>
          </a:prstGeom>
        </p:spPr>
      </p:pic>
      <p:pic>
        <p:nvPicPr>
          <p:cNvPr id="5" name="Picture 4" descr="VYM_inven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371600"/>
            <a:ext cx="6093399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DGRO — 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Return: 0.1190</a:t>
            </a:r>
          </a:p>
          <a:p>
            <a:r>
              <a:t>Annualized Return: 0.0442</a:t>
            </a:r>
          </a:p>
          <a:p>
            <a:r>
              <a:t>Annualized Volatility: 0.0414</a:t>
            </a:r>
          </a:p>
          <a:p>
            <a:r>
              <a:t>Sharpe Ratio: 1.0677</a:t>
            </a:r>
          </a:p>
          <a:p>
            <a:r>
              <a:t>Max Drawdown: -0.0504</a:t>
            </a:r>
          </a:p>
          <a:p>
            <a:r>
              <a:t>Blended True Beta: 0.6207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DGRO — Sell Discipline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Sell Attempts: 0</a:t>
            </a:r>
          </a:p>
          <a:p>
            <a:r>
              <a:t>Blocked by MA20: 0</a:t>
            </a:r>
          </a:p>
          <a:p>
            <a:r>
              <a:t>Blocked by Avg Cost: 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DGRO — Trade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Buys (shares): 0</a:t>
            </a:r>
          </a:p>
          <a:p>
            <a:r>
              <a:t>Total Sells (shares): 0</a:t>
            </a:r>
          </a:p>
          <a:p>
            <a:r>
              <a:t>Largest Buy (shares): 0</a:t>
            </a:r>
          </a:p>
          <a:p>
            <a:r>
              <a:t>Largest Sell (shares): 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DGRO — Charts</a:t>
            </a:r>
          </a:p>
        </p:txBody>
      </p:sp>
      <p:pic>
        <p:nvPicPr>
          <p:cNvPr id="3" name="Picture 2" descr="DGRO_price_ma_tra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267013" cy="2286000"/>
          </a:xfrm>
          <a:prstGeom prst="rect">
            <a:avLst/>
          </a:prstGeom>
        </p:spPr>
      </p:pic>
      <p:pic>
        <p:nvPicPr>
          <p:cNvPr id="4" name="Picture 3" descr="DGRO_equity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371600"/>
            <a:ext cx="4303388" cy="2286000"/>
          </a:xfrm>
          <a:prstGeom prst="rect">
            <a:avLst/>
          </a:prstGeom>
        </p:spPr>
      </p:pic>
      <p:pic>
        <p:nvPicPr>
          <p:cNvPr id="5" name="Picture 4" descr="DGRO_inven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371600"/>
            <a:ext cx="5972468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SCHD — 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Return: 0.1793</a:t>
            </a:r>
          </a:p>
          <a:p>
            <a:r>
              <a:t>Annualized Return: 0.0655</a:t>
            </a:r>
          </a:p>
          <a:p>
            <a:r>
              <a:t>Annualized Volatility: 0.0635</a:t>
            </a:r>
          </a:p>
          <a:p>
            <a:r>
              <a:t>Sharpe Ratio: 1.0311</a:t>
            </a:r>
          </a:p>
          <a:p>
            <a:r>
              <a:t>Max Drawdown: -0.0704</a:t>
            </a:r>
          </a:p>
          <a:p>
            <a:r>
              <a:t>Blended True Beta: 0.4122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SCHD — Sell Discipline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Sell Attempts: 0</a:t>
            </a:r>
          </a:p>
          <a:p>
            <a:r>
              <a:t>Blocked by MA20: 0</a:t>
            </a:r>
          </a:p>
          <a:p>
            <a:r>
              <a:t>Blocked by Avg Cost: 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SCHD — Trade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Buys (shares): 0</a:t>
            </a:r>
          </a:p>
          <a:p>
            <a:r>
              <a:t>Total Sells (shares): 0</a:t>
            </a:r>
          </a:p>
          <a:p>
            <a:r>
              <a:t>Largest Buy (shares): 0</a:t>
            </a:r>
          </a:p>
          <a:p>
            <a:r>
              <a:t>Largest Sell (shares): 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SCHD — Charts</a:t>
            </a:r>
          </a:p>
        </p:txBody>
      </p:sp>
      <p:pic>
        <p:nvPicPr>
          <p:cNvPr id="3" name="Picture 2" descr="SCHD_price_ma_tra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267013" cy="2286000"/>
          </a:xfrm>
          <a:prstGeom prst="rect">
            <a:avLst/>
          </a:prstGeom>
        </p:spPr>
      </p:pic>
      <p:pic>
        <p:nvPicPr>
          <p:cNvPr id="4" name="Picture 3" descr="SCHD_equity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371600"/>
            <a:ext cx="4303388" cy="2286000"/>
          </a:xfrm>
          <a:prstGeom prst="rect">
            <a:avLst/>
          </a:prstGeom>
        </p:spPr>
      </p:pic>
      <p:pic>
        <p:nvPicPr>
          <p:cNvPr id="5" name="Picture 4" descr="SCHD_inven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371600"/>
            <a:ext cx="5894447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KBWY — 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Return: 0.1694</a:t>
            </a:r>
          </a:p>
          <a:p>
            <a:r>
              <a:t>Annualized Return: 0.0620</a:t>
            </a:r>
          </a:p>
          <a:p>
            <a:r>
              <a:t>Annualized Volatility: 0.0842</a:t>
            </a:r>
          </a:p>
          <a:p>
            <a:r>
              <a:t>Sharpe Ratio: 0.7369</a:t>
            </a:r>
          </a:p>
          <a:p>
            <a:r>
              <a:t>Max Drawdown: -0.0840</a:t>
            </a:r>
          </a:p>
          <a:p>
            <a:r>
              <a:t>Blended True Beta: 0.5537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KBWY — Sell Discipline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Sell Attempts: 0</a:t>
            </a:r>
          </a:p>
          <a:p>
            <a:r>
              <a:t>Blocked by MA20: 0</a:t>
            </a:r>
          </a:p>
          <a:p>
            <a:r>
              <a:t>Blocked by Avg Cost: 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KBWY — Trade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Buys (shares): 0</a:t>
            </a:r>
          </a:p>
          <a:p>
            <a:r>
              <a:t>Total Sells (shares): 0</a:t>
            </a:r>
          </a:p>
          <a:p>
            <a:r>
              <a:t>Largest Buy (shares): 0</a:t>
            </a:r>
          </a:p>
          <a:p>
            <a:r>
              <a:t>Largest Sell (shares): 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KBWY — Charts</a:t>
            </a:r>
          </a:p>
        </p:txBody>
      </p:sp>
      <p:pic>
        <p:nvPicPr>
          <p:cNvPr id="3" name="Picture 2" descr="KBWY_price_ma_tra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267013" cy="2286000"/>
          </a:xfrm>
          <a:prstGeom prst="rect">
            <a:avLst/>
          </a:prstGeom>
        </p:spPr>
      </p:pic>
      <p:pic>
        <p:nvPicPr>
          <p:cNvPr id="4" name="Picture 3" descr="KBWY_equity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371600"/>
            <a:ext cx="4303388" cy="2286000"/>
          </a:xfrm>
          <a:prstGeom prst="rect">
            <a:avLst/>
          </a:prstGeom>
        </p:spPr>
      </p:pic>
      <p:pic>
        <p:nvPicPr>
          <p:cNvPr id="5" name="Picture 4" descr="KBWY_inven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371600"/>
            <a:ext cx="6023181" cy="228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